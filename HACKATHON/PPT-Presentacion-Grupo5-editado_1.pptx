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b9d35d0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b9d35d0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9d35d0f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b9d35d0f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Fondo UBA" descr="Escudo de la Universidad de Buenos Aires de fondo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74320" y="150000"/>
            <a:ext cx="3400000" cy="1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419" sz="1400" b="1" spc="200">
                <a:solidFill>
                  <a:srgbClr val="0B1F4D"/>
                </a:solidFill>
              </a:rPr>
              <a:t>HACKATHON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i="1">
                <a:solidFill>
                  <a:srgbClr val="0B1F4D"/>
                </a:solidFill>
              </a:rPr>
              <a:t>Evolución del Padrón Societario según la IGJ (2017–2026)</a:t>
            </a:r>
            <a:r>
              <a:rPr lang="es-419" sz="2200" b="1">
                <a:solidFill>
                  <a:srgbClr val="0B1F4D"/>
                </a:solidFill>
              </a:rPr>
              <a:t>. </a:t>
            </a:r>
            <a:endParaRPr sz="65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74320" y="1950000"/>
            <a:ext cx="34000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0B1F4D"/>
                </a:solidFill>
              </a:rPr>
              <a:t>Grupo 5: </a:t>
            </a:r>
            <a:br>
              <a:rPr lang="es-419" sz="1600" b="1">
                <a:solidFill>
                  <a:srgbClr val="0B1F4D"/>
                </a:solidFill>
              </a:rPr>
            </a:br>
            <a:r>
              <a:rPr lang="es-419" sz="1600" b="1">
                <a:solidFill>
                  <a:srgbClr val="0B1F4D"/>
                </a:solidFill>
              </a:rPr>
              <a:t>Felipe Falvo – 910028</a:t>
            </a:r>
            <a:br>
              <a:rPr lang="es-419" sz="1600" b="1">
                <a:solidFill>
                  <a:srgbClr val="0B1F4D"/>
                </a:solidFill>
              </a:rPr>
            </a:br>
            <a:r>
              <a:rPr lang="es-419" sz="1600" b="1">
                <a:solidFill>
                  <a:srgbClr val="0B1F4D"/>
                </a:solidFill>
              </a:rPr>
              <a:t>Ivan Pérez – 910516</a:t>
            </a:r>
            <a:br>
              <a:rPr lang="es-419" sz="1600" b="1">
                <a:solidFill>
                  <a:srgbClr val="0B1F4D"/>
                </a:solidFill>
              </a:rPr>
            </a:br>
            <a:r>
              <a:rPr lang="es-419" sz="1600" b="1">
                <a:solidFill>
                  <a:srgbClr val="0B1F4D"/>
                </a:solidFill>
              </a:rPr>
              <a:t>Roy Guillen – 909283</a:t>
            </a:r>
            <a:br>
              <a:rPr lang="es-419" sz="1600" b="1">
                <a:solidFill>
                  <a:srgbClr val="0B1F4D"/>
                </a:solidFill>
              </a:rPr>
            </a:br>
            <a:r>
              <a:rPr lang="es-419" sz="1600" b="1">
                <a:solidFill>
                  <a:srgbClr val="0B1F4D"/>
                </a:solidFill>
              </a:rPr>
              <a:t>Evaristo Bardullas – 899200</a:t>
            </a:r>
            <a:endParaRPr/>
          </a:p>
        </p:txBody>
      </p:sp>
      <p:pic>
        <p:nvPicPr>
          <p:cNvPr id="103" name="Logo FCE" descr="Logo de la Facultad de Ciencias Económicas UBA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00000"/>
            <a:ext cx="8419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300000"/>
          </a:xfrm>
          <a:prstGeom prst="rect">
            <a:avLst/>
          </a:prstGeom>
          <a:solidFill>
            <a:srgbClr val="D9E6F7"/>
          </a:solidFill>
          <a:ln>
            <a:noFill/>
          </a:ln>
        </p:spPr>
        <p:txBody>
          <a:bodyPr spcFirstLastPara="1" wrap="square" lIns="403410" tIns="91425" rIns="1091425" bIns="91425" anchor="ctr" anchorCtr="0">
            <a:normAutofit/>
          </a:bodyPr>
          <a:lstStyle/>
          <a:p>
            <a:pPr lvl="0"/>
            <a:r>
              <a:rPr lang="es-419" sz="2000" b="1" dirty="0">
                <a:solidFill>
                  <a:srgbClr val="0B1F4D"/>
                </a:solidFill>
              </a:rPr>
              <a:t>¿Cómo evolucionaron las sociedades en Argentina de 2017 a 2026? </a:t>
            </a:r>
            <a:r>
              <a:rPr lang="es-ES" sz="2000" b="1" dirty="0">
                <a:solidFill>
                  <a:srgbClr val="0B1F4D"/>
                </a:solidFill>
              </a:rPr>
              <a:t>Una perspectiva sobre el auge y la caída de las S.A.S.</a:t>
            </a:r>
            <a:r>
              <a:rPr lang="es-419" sz="2000" b="1" dirty="0">
                <a:solidFill>
                  <a:srgbClr val="0B1F4D"/>
                </a:solidFill>
              </a:rPr>
              <a:t> 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50000"/>
            <a:ext cx="8520600" cy="3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45000" rIns="1000000" bIns="450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 b="1">
                <a:solidFill>
                  <a:srgbClr val="0B1F4D"/>
                </a:solidFill>
              </a:rPr>
              <a:t>Metodología: </a:t>
            </a:r>
            <a:endParaRPr/>
          </a:p>
          <a:p>
            <a:pPr marL="457200" lvl="0" indent="-325755" algn="l" rtl="0">
              <a:spcBef>
                <a:spcPts val="800"/>
              </a:spcBef>
              <a:spcAft>
                <a:spcPts val="0"/>
              </a:spcAft>
              <a:buSzPct val="100000"/>
              <a:buChar char="-"/>
            </a:pPr>
            <a:r>
              <a:rPr lang="es-419" sz="1400">
                <a:solidFill>
                  <a:srgbClr val="0B1F4D"/>
                </a:solidFill>
              </a:rPr>
              <a:t>Descargamos los archivos semestrales y cuatrimestrales del dataset abierto de la IGJ: 10 cortes entre 2017 y 2026, con más de 1 millón de registros cada uno.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sz="1400">
                <a:solidFill>
                  <a:srgbClr val="0B1F4D"/>
                </a:solidFill>
              </a:rPr>
              <a:t>Limpiamos y unificamos los datasets en un único panel, homogeneizando columnas entre archivos con formatos distintos (+9,9 millones de registros).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sz="1400">
                <a:solidFill>
                  <a:srgbClr val="0B1F4D"/>
                </a:solidFill>
              </a:rPr>
              <a:t>Auditamos las variables antes de usarlas y descartamos el campo de bajas: la IGJ lo recodificó en 2025, por lo que no refleja mortalidad empresarial real.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sz="1400">
                <a:solidFill>
                  <a:srgbClr val="0B1F4D"/>
                </a:solidFill>
              </a:rPr>
              <a:t>Transformamos la información en una serie de altas: tomamos la primera aparición de cada entidad en el padrón como su fecha de inscripción, y normalizamos por mes para comparar ventanas de distinta duración.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sz="1400">
                <a:solidFill>
                  <a:srgbClr val="0B1F4D"/>
                </a:solidFill>
              </a:rPr>
              <a:t>Analizamos los gráficos obtenidos y desarrollamos conclusiones.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28875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Resultados: </a:t>
            </a:r>
            <a:endParaRPr/>
          </a:p>
        </p:txBody>
      </p:sp>
      <p:pic>
        <p:nvPicPr>
          <p:cNvPr id="67" name="Google Shape;67;p15" title="WhatsApp Image 2026-09-13 at 4.55.1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2700"/>
            <a:ext cx="4995100" cy="368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bb6eceec-ef5a-4e54-a3aa-6a9ed717f37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5100" y="2497475"/>
            <a:ext cx="4302751" cy="2505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grafico_cohortes_baj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125" y="1552"/>
            <a:ext cx="4302751" cy="249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Presentación en pantalla 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HACKATHON Evolución del Padrón Societario según la IGJ (2017–2026).  </vt:lpstr>
      <vt:lpstr>¿Cómo evolucionaron las sociedades en Argentina de 2017 a 2026? Una perspectiva sobre el auge y la caída de las S.A.S. </vt:lpstr>
      <vt:lpstr>Resultados: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evaristo emanuel bardullas</cp:lastModifiedBy>
  <cp:revision>1</cp:revision>
  <dcterms:modified xsi:type="dcterms:W3CDTF">2026-09-14T20:53:54Z</dcterms:modified>
</cp:coreProperties>
</file>